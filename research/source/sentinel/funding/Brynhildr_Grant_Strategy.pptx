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64592"/>
          </a:xfrm>
          <a:prstGeom prst="rect">
            <a:avLst/>
          </a:prstGeom>
          <a:solidFill>
            <a:srgbClr val="057A43"/>
          </a:solidFill>
          <a:ln w="12700">
            <a:solidFill>
              <a:srgbClr val="057A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36008"/>
            <a:ext cx="9144000" cy="164592"/>
          </a:xfrm>
          <a:prstGeom prst="rect">
            <a:avLst/>
          </a:prstGeom>
          <a:solidFill>
            <a:srgbClr val="057A43"/>
          </a:solidFill>
          <a:ln w="12700">
            <a:solidFill>
              <a:srgbClr val="057A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00600"/>
            <a:ext cx="91440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493776"/>
            <a:ext cx="2560320" cy="414223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685800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59752" y="685800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98664" y="685800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37576" y="685800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76488" y="685800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1115568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59752" y="1115568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98664" y="1115568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37576" y="1115568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76488" y="1115568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1545336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9752" y="1545336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98664" y="1545336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37576" y="1545336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76488" y="1545336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1975104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9752" y="1975104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98664" y="1975104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37576" y="1975104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76488" y="1975104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0840" y="2404872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9752" y="2404872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98664" y="2404872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37576" y="2404872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76488" y="2404872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2834640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59752" y="2834640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98664" y="2834640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37576" y="2834640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76488" y="2834640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0840" y="3264408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59752" y="3264408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98664" y="3264408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37576" y="3264408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76488" y="3264408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20840" y="3694176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59752" y="3694176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98664" y="3694176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37576" y="3694176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76488" y="3694176"/>
            <a:ext cx="64008" cy="64008"/>
          </a:xfrm>
          <a:prstGeom prst="ellipse">
            <a:avLst/>
          </a:prstGeom>
          <a:solidFill>
            <a:srgbClr val="FF6B15">
              <a:alpha val="35000"/>
            </a:srgbClr>
          </a:solidFill>
          <a:ln w="12700">
            <a:solidFill>
              <a:srgbClr val="FF6B15">
                <a:alpha val="3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5943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GRANT STACKING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91440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THE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BRYNHILDR POC</a:t>
            </a:r>
            <a:endParaRPr lang="en-US" sz="5200" dirty="0"/>
          </a:p>
        </p:txBody>
      </p:sp>
      <p:sp>
        <p:nvSpPr>
          <p:cNvPr id="51" name="Text 49"/>
          <p:cNvSpPr/>
          <p:nvPr/>
        </p:nvSpPr>
        <p:spPr>
          <a:xfrm>
            <a:off x="411480" y="26517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&amp; West Bengal Government Schemes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411480" y="3182112"/>
            <a:ext cx="5029200" cy="4572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2918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funding architecture unlocking up to ₹26+ Crore in non-dilutive grants across 5 complementary schemes — zero equity surrendered.</a:t>
            </a:r>
            <a:endParaRPr lang="en-US" sz="1300" dirty="0"/>
          </a:p>
        </p:txBody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251960"/>
            <a:ext cx="320040" cy="32004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22960" y="430682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Nyther Cybersecurity Research · The Foundry, Kolkata, West Bengal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Stack? Non-Dilutive Capital Across Four Phases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scheme funds a distinct phase of the development cycle. They do not compete — they complement. Each grant unlocks eligibility for the next.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199339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20240"/>
            <a:ext cx="1993392" cy="73152"/>
          </a:xfrm>
          <a:prstGeom prst="rect">
            <a:avLst/>
          </a:prstGeom>
          <a:solidFill>
            <a:srgbClr val="0E5DA8"/>
          </a:solidFill>
          <a:ln w="12700">
            <a:solidFill>
              <a:srgbClr val="0E5D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029968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225856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Pre-Incubation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265176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₹17L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75488" y="3310128"/>
            <a:ext cx="1737360" cy="36576"/>
          </a:xfrm>
          <a:prstGeom prst="rect">
            <a:avLst/>
          </a:prstGeom>
          <a:solidFill>
            <a:srgbClr val="DDE3ED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401568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NIDHI-PRAYAS + TIDE 2.0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374904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mesh proof-of-concept &amp; early MVP build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87168" y="1920240"/>
            <a:ext cx="199339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87168" y="1920240"/>
            <a:ext cx="1993392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6896" y="2029968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96896" y="225856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Build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96896" y="265176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₹70L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2596896" y="3310128"/>
            <a:ext cx="1737360" cy="36576"/>
          </a:xfrm>
          <a:prstGeom prst="rect">
            <a:avLst/>
          </a:prstGeom>
          <a:solidFill>
            <a:srgbClr val="DDE3ED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96896" y="3401568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India SISFS + Startup Bengal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96896" y="374904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prototype + air-gapped telemetry plane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08576" y="1920240"/>
            <a:ext cx="199339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08576" y="1920240"/>
            <a:ext cx="1993392" cy="73152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2029968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18304" y="225856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PoC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18304" y="265176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 Cr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4718304" y="3310128"/>
            <a:ext cx="1737360" cy="36576"/>
          </a:xfrm>
          <a:prstGeom prst="rect">
            <a:avLst/>
          </a:prstGeom>
          <a:solidFill>
            <a:srgbClr val="DDE3ED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3401568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iDEX DISC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18304" y="374904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Rootkit detection demonstration for Armed Forces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29984" y="1920240"/>
            <a:ext cx="199339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9984" y="1920240"/>
            <a:ext cx="1993392" cy="73152"/>
          </a:xfrm>
          <a:prstGeom prst="rect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9712" y="2029968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39712" y="225856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Deep-Tech Scale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39712" y="265176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 Cr</a:t>
            </a:r>
            <a:endParaRPr lang="en-US" sz="3600" dirty="0"/>
          </a:p>
        </p:txBody>
      </p:sp>
      <p:sp>
        <p:nvSpPr>
          <p:cNvPr id="36" name="Shape 34"/>
          <p:cNvSpPr/>
          <p:nvPr/>
        </p:nvSpPr>
        <p:spPr>
          <a:xfrm>
            <a:off x="6839712" y="3310128"/>
            <a:ext cx="1737360" cy="36576"/>
          </a:xfrm>
          <a:prstGeom prst="rect">
            <a:avLst/>
          </a:prstGeom>
          <a:solidFill>
            <a:srgbClr val="DDE3ED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9712" y="3401568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iDEX ADITI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39712" y="374904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Æthelred training &amp; live-fire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E5DA8"/>
          </a:solidFill>
          <a:ln w="12700">
            <a:solidFill>
              <a:srgbClr val="0E5D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37160"/>
            <a:ext cx="1280160" cy="365760"/>
          </a:xfrm>
          <a:prstGeom prst="rect">
            <a:avLst/>
          </a:prstGeom>
          <a:solidFill>
            <a:srgbClr val="0E5DA8"/>
          </a:solidFill>
          <a:ln w="12700">
            <a:solidFill>
              <a:srgbClr val="0E5D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82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— NIDHI PRAYAS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93268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Promoting &amp; Accelerating Young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Technology Entrepreneurs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20240"/>
            <a:ext cx="54864" cy="457200"/>
          </a:xfrm>
          <a:prstGeom prst="rect">
            <a:avLst/>
          </a:prstGeom>
          <a:solidFill>
            <a:srgbClr val="0E5DA8"/>
          </a:solidFill>
          <a:ln w="12700">
            <a:solidFill>
              <a:srgbClr val="0E5D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476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Science &amp; Technology (DST), GoI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45059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450592"/>
            <a:ext cx="54864" cy="457200"/>
          </a:xfrm>
          <a:prstGeom prst="rect">
            <a:avLst/>
          </a:prstGeom>
          <a:solidFill>
            <a:srgbClr val="0E5DA8"/>
          </a:solidFill>
          <a:ln w="12700">
            <a:solidFill>
              <a:srgbClr val="0E5D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4780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QUANTUM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9808" y="2633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₹10 Lakhs per innovator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2980944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980944"/>
            <a:ext cx="54864" cy="457200"/>
          </a:xfrm>
          <a:prstGeom prst="rect">
            <a:avLst/>
          </a:prstGeom>
          <a:solidFill>
            <a:srgbClr val="0E5DA8"/>
          </a:solidFill>
          <a:ln w="12700">
            <a:solidFill>
              <a:srgbClr val="0E5D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0083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49808" y="31638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hardware prototype from idea/PoC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51129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511296"/>
            <a:ext cx="54864" cy="457200"/>
          </a:xfrm>
          <a:prstGeom prst="rect">
            <a:avLst/>
          </a:prstGeom>
          <a:solidFill>
            <a:srgbClr val="0E5DA8"/>
          </a:solidFill>
          <a:ln w="12700">
            <a:solidFill>
              <a:srgbClr val="0E5D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5387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9808" y="36941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18 months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4041648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041648"/>
            <a:ext cx="54864" cy="457200"/>
          </a:xfrm>
          <a:prstGeom prst="rect">
            <a:avLst/>
          </a:prstGeom>
          <a:solidFill>
            <a:srgbClr val="0E5DA8"/>
          </a:solidFill>
          <a:ln w="12700">
            <a:solidFill>
              <a:srgbClr val="0E5D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069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9808" y="42245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product (not pure software)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1828800"/>
            <a:ext cx="3977640" cy="3063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1828800"/>
            <a:ext cx="3977640" cy="502920"/>
          </a:xfrm>
          <a:prstGeom prst="rect">
            <a:avLst/>
          </a:prstGeom>
          <a:solidFill>
            <a:srgbClr val="0E5DA8"/>
          </a:solidFill>
          <a:ln w="12700">
            <a:solidFill>
              <a:srgbClr val="0E5D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90195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BRYNHILDR QUALIFIES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sensor mesh is a physical hardware product — not software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effect VRM sensors = novel hardware prototype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383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embedded systems are priority sectors under PRAYAS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3840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Calcutta Innovation Park is a TIDE/PRAYAS partner — local access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4297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rights vest with innovator under PRAYAS terms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" y="4754880"/>
            <a:ext cx="8229600" cy="292608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79145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SPEND: Raw materials for prototype sensor PCBs · Fabrication charges for thermal mesh · R&amp;D consultancy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37160"/>
            <a:ext cx="1280160" cy="365760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82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 — TIDE 2.0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93268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Incubation &amp;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Entrepreneurs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20240"/>
            <a:ext cx="54864" cy="457200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476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Electronics &amp; IT (MeitY), GoI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45059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450592"/>
            <a:ext cx="54864" cy="457200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4780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QUANTUM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9808" y="2633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EiR up to ₹4L (idea) · Grant up to ₹7L (MVP)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2980944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980944"/>
            <a:ext cx="54864" cy="457200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0083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49808" y="31638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ICT-enabled tech: IoT, AI, Robotics, Hardware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51129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511296"/>
            <a:ext cx="54864" cy="457200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5387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PARTNER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9808" y="36941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Calcutta Innovation Park — Kolkata-based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4041648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041648"/>
            <a:ext cx="54864" cy="457200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069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9808" y="42245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incubation + seed investment up to ₹40L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1828800"/>
            <a:ext cx="3977640" cy="3063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1828800"/>
            <a:ext cx="3977640" cy="502920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90195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KOLKATA ADVANTAGE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IIM-CIP is the designated TIDE 2.0 centre for Eastern India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Brynhildr is an IoT+AI+hardware product — directly eligible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383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Æthelred = AI/ML inference layer eligible under ICT scope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3840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Stackable with NIDHI-PRAYAS (different grant, same project phase)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4297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incubation provides lab space for hardware build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" y="4754880"/>
            <a:ext cx="8229600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79145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SPEND: Æthelred MoE architecture MVP · PCB prototyping · AI inference cluster spec · IP filing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37160"/>
            <a:ext cx="1280160" cy="3657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82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00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+ STATE: TWO-LAYERED PHASE 1 GRANT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9326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India SISFS · Startup Bengal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39136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691640"/>
            <a:ext cx="3913632" cy="530352"/>
          </a:xfrm>
          <a:prstGeom prst="rect">
            <a:avLst/>
          </a:prstGeom>
          <a:solidFill>
            <a:srgbClr val="0E5DA8"/>
          </a:solidFill>
          <a:ln w="12700">
            <a:solidFill>
              <a:srgbClr val="0E5D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5564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India Seed Fund Scheme (SISFS)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233172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9808" y="25054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DPIIT, Ministry of Commerce &amp; Industry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8803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9808" y="30540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₹20L for proof of concept; ₹50L for prototype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34290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9808" y="36027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Incubators with DPIIT empanelment (multiple in Kolkata)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9776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9808" y="41513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DPIIT-recognised startup, &lt;2yr from incorporation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407408"/>
            <a:ext cx="3913632" cy="41148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4622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Full hardware chassis prototype for Phase 1 sensor array build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69164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691640"/>
            <a:ext cx="4023360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755648"/>
            <a:ext cx="3767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Bengal + Banglashree (WB State)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56048" y="2331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56048" y="25054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MSME &amp; Textiles, Govt. of West Bengal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6048" y="2880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56048" y="30540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reimbursement · Capital Investment Subsidy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6048" y="34290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56048" y="36027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SGST refund · Power/electricity duty waiver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56048" y="3977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ACCESS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56048" y="4151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equity from WB MSME Venture Capital Fund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4407408"/>
            <a:ext cx="4023360" cy="411480"/>
          </a:xfrm>
          <a:prstGeom prst="rect">
            <a:avLst/>
          </a:prstGeom>
          <a:solidFill>
            <a:srgbClr val="E5F5EC"/>
          </a:solidFill>
          <a:ln w="12700">
            <a:solidFill>
              <a:srgbClr val="E5F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4462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Register in Kolkata, reduce GST burden, subsidise power for sensor lab ops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1280160" cy="365760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IDEX — DISC / iDEX PRIME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Innovations for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Excellence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11480" y="2148840"/>
            <a:ext cx="5120640" cy="420624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148840"/>
            <a:ext cx="64008" cy="420624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76272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Defence / Defence Innovation Org. (DIO)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633472"/>
            <a:ext cx="5120640" cy="420624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633472"/>
            <a:ext cx="64008" cy="420624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660904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QUANTUM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2816352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DISC: Up to ₹1.5 Cr  ·  iDEX Prime: Up to ₹10 Cr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118104"/>
            <a:ext cx="5120640" cy="420624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118104"/>
            <a:ext cx="64008" cy="420624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145536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3300984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Cybersecurity, Hardware Security, AI for defence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602736"/>
            <a:ext cx="5120640" cy="420624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602736"/>
            <a:ext cx="64008" cy="420624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30168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9 PRECEDENT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6928" y="378561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cybersecurity challenges funded in DISC 9 edition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4087368"/>
            <a:ext cx="5120640" cy="420624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087368"/>
            <a:ext cx="64008" cy="420624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114800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PROCUREMENT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" y="427024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become procurement-eligible for Armed Forces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0" y="3657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 Cr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₹10 Cr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594360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→ iDEX Prime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0" y="2240280"/>
            <a:ext cx="301752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 hardware == defence-grade security gap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0" y="29535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OS dependency = architectural moat for Armed Forces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43600" y="348386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 detection = novel enough for problem statement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43600" y="401421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ADSP-level rootkit immunity = direct defence application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1480" y="4846320"/>
            <a:ext cx="8412480" cy="201168"/>
          </a:xfrm>
          <a:prstGeom prst="rect">
            <a:avLst/>
          </a:prstGeom>
          <a:solidFill>
            <a:srgbClr val="1A0A00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87375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tranches: 10% / 20% / 30% / 30% / 10% released as PoC milestones are hit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7160"/>
            <a:ext cx="1280160" cy="365760"/>
          </a:xfrm>
          <a:prstGeom prst="rect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2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PEAK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— Acing Development of Innovative Technologies with iDEX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3268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Apex Grant: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₹25 Crore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44805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965960"/>
            <a:ext cx="54864" cy="448056"/>
          </a:xfrm>
          <a:prstGeom prst="rect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99339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9808" y="214884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Defence, DDP, under iDEX ecosystem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478024"/>
            <a:ext cx="44805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478024"/>
            <a:ext cx="54864" cy="448056"/>
          </a:xfrm>
          <a:prstGeom prst="rect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50545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CORPUS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9808" y="2660904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₹750 Crore for FY 2023–24 to 2025–26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2990088"/>
            <a:ext cx="44805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990088"/>
            <a:ext cx="54864" cy="448056"/>
          </a:xfrm>
          <a:prstGeom prst="rect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01752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PER PROJECT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9808" y="317296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₹25 Crore — highest available in iDEX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502152"/>
            <a:ext cx="44805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502152"/>
            <a:ext cx="54864" cy="448056"/>
          </a:xfrm>
          <a:prstGeom prst="rect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5295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9808" y="368503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Quantum, Cyber-tech, Semiconductors, Autonomous Systems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4014216"/>
            <a:ext cx="44805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014216"/>
            <a:ext cx="54864" cy="448056"/>
          </a:xfrm>
          <a:prstGeom prst="rect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04164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 STATUS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9808" y="4197096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3.0 expected — ADITI 1.0 had 17 problem statements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1874520"/>
            <a:ext cx="3429000" cy="2971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1874520"/>
            <a:ext cx="3429000" cy="502920"/>
          </a:xfrm>
          <a:prstGeom prst="rect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19385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BRYNHILDR PHASE 3 SPEND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2487168"/>
            <a:ext cx="3200400" cy="36576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Rack-scale sensor array manufacturing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882128" y="2514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 Cr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0" y="2916936"/>
            <a:ext cx="3200400" cy="36576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96128" y="2944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Æthelred MoE training cluster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882128" y="29443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 Cr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0" y="3346704"/>
            <a:ext cx="3200400" cy="36576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96128" y="33741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Live-fire test facility (isolated)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882128" y="337413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 Cr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0" y="3776472"/>
            <a:ext cx="3200400" cy="36576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96128" y="38039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firmware + FPGAs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882128" y="380390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 Cr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0" y="4206240"/>
            <a:ext cx="3200400" cy="36576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96128" y="4233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salaries + IP (18 months)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882128" y="4233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 Cr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4360" y="4773168"/>
            <a:ext cx="8229600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480974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winners are fast-tracked into MoD procurement pipelines — creating a revenue path, not just R&amp;D funding.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"/>
            <a:ext cx="9144000" cy="109728"/>
          </a:xfrm>
          <a:prstGeom prst="rect">
            <a:avLst/>
          </a:prstGeom>
          <a:solidFill>
            <a:srgbClr val="057A43"/>
          </a:solidFill>
          <a:ln w="12700">
            <a:solidFill>
              <a:srgbClr val="057A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STACK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₹26.27 Crore — Zero Equity Surrendered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38404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463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20440" y="1463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/ SOURCE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89320" y="1463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GRANT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26680" y="1463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8412480" cy="43891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74520"/>
            <a:ext cx="73152" cy="438912"/>
          </a:xfrm>
          <a:prstGeom prst="rect">
            <a:avLst/>
          </a:prstGeom>
          <a:solidFill>
            <a:srgbClr val="0E5DA8"/>
          </a:solidFill>
          <a:ln w="12700">
            <a:solidFill>
              <a:srgbClr val="0E5D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659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NIDHI-PRAYAS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1965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Science &amp; Tech (GoI)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1965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Lakhs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26680" y="19659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0-A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350008"/>
            <a:ext cx="8412480" cy="43891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350008"/>
            <a:ext cx="73152" cy="438912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4414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 TIDE 2.0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2441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Electronics &amp; IT (GoI)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9320" y="2441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 Lakhs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26680" y="2441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0-B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825496"/>
            <a:ext cx="8412480" cy="43891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825496"/>
            <a:ext cx="73152" cy="438912"/>
          </a:xfrm>
          <a:prstGeom prst="rect">
            <a:avLst/>
          </a:prstGeom>
          <a:solidFill>
            <a:srgbClr val="0E5DA8"/>
          </a:solidFill>
          <a:ln w="12700">
            <a:solidFill>
              <a:srgbClr val="0E5D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9169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India SISFS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20440" y="29169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DPIIT, Ministry of Commerce (GoI)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2916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 Lakhs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26680" y="29169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1-A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300984"/>
            <a:ext cx="8412480" cy="43891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300984"/>
            <a:ext cx="73152" cy="43891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39242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Bengal + Banglashree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20440" y="33924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of West Bengal (State)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89320" y="33924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~₹10 Lakhs*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26680" y="339242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1-B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776472"/>
            <a:ext cx="8412480" cy="43891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776472"/>
            <a:ext cx="73152" cy="438912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86791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iDEX DISC → iDEX Prime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520440" y="38679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Defence (GoI)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89320" y="38679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₹1.5–10 Cr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26680" y="38679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251960"/>
            <a:ext cx="8412480" cy="43891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251960"/>
            <a:ext cx="73152" cy="438912"/>
          </a:xfrm>
          <a:prstGeom prst="rect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3434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(iDEX)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520440" y="43434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Defence (GoI)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89320" y="4343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 Crore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726680" y="43434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8006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STACKED POTENTIAL: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69280" y="48006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₹26.27 CRORE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57A43"/>
          </a:solidFill>
          <a:ln w="12700">
            <a:solidFill>
              <a:srgbClr val="057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&amp; ELIGIBILITY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Stack Without Conflict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331720" y="1188720"/>
            <a:ext cx="91440" cy="3611880"/>
          </a:xfrm>
          <a:prstGeom prst="rect">
            <a:avLst/>
          </a:prstGeom>
          <a:solidFill>
            <a:srgbClr val="DDE3ED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03704" y="1298448"/>
            <a:ext cx="347472" cy="347472"/>
          </a:xfrm>
          <a:prstGeom prst="ellipse">
            <a:avLst/>
          </a:prstGeom>
          <a:solidFill>
            <a:srgbClr val="0E5DA8"/>
          </a:solidFill>
          <a:ln w="12700">
            <a:solidFill>
              <a:srgbClr val="0E5D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167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188720"/>
            <a:ext cx="5943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188720"/>
            <a:ext cx="64008" cy="804672"/>
          </a:xfrm>
          <a:prstGeom prst="rect">
            <a:avLst/>
          </a:prstGeom>
          <a:solidFill>
            <a:srgbClr val="0E5DA8"/>
          </a:solidFill>
          <a:ln w="12700">
            <a:solidFill>
              <a:srgbClr val="0E5D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24358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Incubate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151790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recognition → IIM-CIP incubation → Apply NIDHI-PRAYAS + TIDE 2.0 simultaneously (non-overlapping grants)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03704" y="2167128"/>
            <a:ext cx="347472" cy="34747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854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2057400"/>
            <a:ext cx="5943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2057400"/>
            <a:ext cx="64008" cy="8046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11226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Bengal + SISFS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38658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MSME registration → Banglashree SGST+capital subsidy → SISFS via Kolkata incubator (prototype stage ₹50L)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03704" y="3035808"/>
            <a:ext cx="347472" cy="347472"/>
          </a:xfrm>
          <a:prstGeom prst="ellipse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540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10–18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88920" y="2926080"/>
            <a:ext cx="5943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8920" y="2926080"/>
            <a:ext cx="64008" cy="804672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298094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iDEX DISC Challenge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325526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next DISC round (cybersecurity category). Prototype demo from Phase 0-1 funds = winning application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03704" y="3904488"/>
            <a:ext cx="347472" cy="347472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19–36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88920" y="3794760"/>
            <a:ext cx="5943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3794760"/>
            <a:ext cx="64008" cy="804672"/>
          </a:xfrm>
          <a:prstGeom prst="rect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384962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Application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26080" y="412394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iDEX DISC winner status = direct eligibility pathway for ADITI. DISC prototype + Æthelred demo = ADITI-grade deep tech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80974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NIDHI-PRAYAS &amp; TIDE 2.0 are independent grants (different ministries) and can run simultaneously. SISFS, iDEX, and ADITI are sequential.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"/>
            <a:ext cx="9144000" cy="109728"/>
          </a:xfrm>
          <a:prstGeom prst="rect">
            <a:avLst/>
          </a:prstGeom>
          <a:solidFill>
            <a:srgbClr val="057A43"/>
          </a:solidFill>
          <a:ln w="12700">
            <a:solidFill>
              <a:srgbClr val="057A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389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Extracting Value in 30 Days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206240" cy="157276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64008" cy="1572768"/>
          </a:xfrm>
          <a:prstGeom prst="rect">
            <a:avLst/>
          </a:prstGeom>
          <a:solidFill>
            <a:srgbClr val="0E5DA8"/>
          </a:solidFill>
          <a:ln w="12700">
            <a:solidFill>
              <a:srgbClr val="0E5D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00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5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16184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&amp; MSME Registration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130552"/>
            <a:ext cx="3913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a DPIIT-recognised startup (free, online). Simultaneously register under Udyam (MSME) and WB MSME portal for Banglashree. Both are prerequisites for all downstream grants.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508760"/>
            <a:ext cx="4206240" cy="157276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508760"/>
            <a:ext cx="64008" cy="1572768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600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23560" y="16184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IIM Calcutta Innovation Park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65192" y="2130552"/>
            <a:ext cx="3913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IIM-CIP is the Kolkata hub for both MeitY TIDE 2.0 and NIDHI-PRAYAS. A single incubation application unlocks access to both central grants with local mentorship and lab access.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4206240" cy="157276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00400"/>
            <a:ext cx="64008" cy="15727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291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188720" y="33101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First NIDHI-PRAYAS Application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3822192"/>
            <a:ext cx="3913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sensor mesh PCB fabrication plan as a hardware prototype proposal through the IIM-CIP PRAYAS centre. This is the fastest grant to access — typically 6–8 weeks to decision.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3200400"/>
            <a:ext cx="4206240" cy="157276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3200400"/>
            <a:ext cx="64008" cy="1572768"/>
          </a:xfrm>
          <a:prstGeom prst="rect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3291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623560" y="33101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iDEX Problem Statement Response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65192" y="3822192"/>
            <a:ext cx="3913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idex.gov.in for the next DISC round with cybersecurity problem statements. Use Phase 0 deliverables (sensor prototype, Æthelred architecture) as the application evidence.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FF6B15"/>
          </a:solidFill>
          <a:ln w="12700">
            <a:solidFill>
              <a:srgbClr val="FF6B1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554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₹26+ Cr available. Zero equity cost. The only cost is the time to apply. — Nyther Cybersecurity Research, Kolkata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Grant Stacking Strategy — Project Brynhildr</dc:title>
  <dc:subject>PptxGenJS Presentation</dc:subject>
  <dc:creator>PptxGenJS</dc:creator>
  <cp:lastModifiedBy>PptxGenJS</cp:lastModifiedBy>
  <cp:revision>1</cp:revision>
  <dcterms:created xsi:type="dcterms:W3CDTF">2026-03-04T21:48:56Z</dcterms:created>
  <dcterms:modified xsi:type="dcterms:W3CDTF">2026-03-04T21:48:56Z</dcterms:modified>
</cp:coreProperties>
</file>